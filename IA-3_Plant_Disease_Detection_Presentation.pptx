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IA-3 SKILL-BASED EVALUATION (25 MARKS)</a:t>
            </a:r>
          </a:p>
          <a:p>
            <a:pPr>
              <a:spcBef>
                <a:spcPts val="1200"/>
              </a:spcBef>
              <a:defRPr sz="3200" b="1">
                <a:solidFill>
                  <a:srgbClr val="0F172A"/>
                </a:solidFill>
              </a:defRPr>
            </a:pPr>
            <a:r>
              <a:t>Real-Time Multi-Crop Plant Leaf Disease Detection</a:t>
            </a:r>
          </a:p>
          <a:p>
            <a:pPr>
              <a:spcBef>
                <a:spcPts val="800"/>
              </a:spcBef>
              <a:defRPr sz="1600">
                <a:solidFill>
                  <a:srgbClr val="475569"/>
                </a:solidFill>
              </a:defRPr>
            </a:pPr>
            <a:r>
              <a:t>Deep Residual Learning (ResNet-50) Transfer Learning with Automated Foliage Guard</a:t>
            </a:r>
          </a:p>
          <a:p>
            <a:pPr>
              <a:spcBef>
                <a:spcPts val="2400"/>
              </a:spcBef>
              <a:defRPr sz="1300">
                <a:solidFill>
                  <a:srgbClr val="64748B"/>
                </a:solidFill>
              </a:defRPr>
            </a:pPr>
            <a:r>
              <a:t>Course: Deep Learning (23DC2040)  |  B.Tech. AI &amp; Data Science  |  Semester 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Problem Identification &amp; Multi-Crop Dataset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389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</a:defRPr>
            </a:pPr>
            <a:r>
              <a:t>Dataset Synthesis &amp; Coverage</a:t>
            </a:r>
          </a:p>
          <a:p>
            <a:pPr>
              <a:spcBef>
                <a:spcPts val="1000"/>
              </a:spcBef>
              <a:defRPr b="1" sz="1200">
                <a:solidFill>
                  <a:srgbClr val="16A34A"/>
                </a:solidFill>
              </a:defRPr>
            </a:pPr>
            <a:r>
              <a:t>Total Classes: </a:t>
            </a:r>
            <a:r>
              <a:rPr b="0">
                <a:solidFill>
                  <a:srgbClr val="334155"/>
                </a:solidFill>
              </a:rPr>
              <a:t>37 Verified Agricultural Pathologies &amp; Healthy Categories</a:t>
            </a:r>
          </a:p>
          <a:p>
            <a:pPr>
              <a:spcBef>
                <a:spcPts val="1000"/>
              </a:spcBef>
              <a:defRPr b="1" sz="1200">
                <a:solidFill>
                  <a:srgbClr val="16A34A"/>
                </a:solidFill>
              </a:defRPr>
            </a:pPr>
            <a:r>
              <a:t>Crops Covered (11): </a:t>
            </a:r>
            <a:r>
              <a:rPr b="0">
                <a:solidFill>
                  <a:srgbClr val="334155"/>
                </a:solidFill>
              </a:rPr>
              <a:t>Apple, Blueberry, Cherry, Corn, Grape, Peach, Pepper, Potato, Rice, Strawberry, Tomato</a:t>
            </a:r>
          </a:p>
          <a:p>
            <a:pPr>
              <a:spcBef>
                <a:spcPts val="1000"/>
              </a:spcBef>
              <a:defRPr b="1" sz="1200">
                <a:solidFill>
                  <a:srgbClr val="16A34A"/>
                </a:solidFill>
              </a:defRPr>
            </a:pPr>
            <a:r>
              <a:t>Ground-Truth Sources: </a:t>
            </a:r>
            <a:r>
              <a:rPr b="0">
                <a:solidFill>
                  <a:srgbClr val="334155"/>
                </a:solidFill>
              </a:rPr>
              <a:t>PlantVillage &amp; Rice Leaf Disease benchmark repositories</a:t>
            </a:r>
          </a:p>
          <a:p>
            <a:pPr>
              <a:spcBef>
                <a:spcPts val="1000"/>
              </a:spcBef>
              <a:defRPr b="1" sz="1200">
                <a:solidFill>
                  <a:srgbClr val="16A34A"/>
                </a:solidFill>
              </a:defRPr>
            </a:pPr>
            <a:r>
              <a:t>Stratified Split: </a:t>
            </a:r>
            <a:r>
              <a:rPr b="0">
                <a:solidFill>
                  <a:srgbClr val="334155"/>
                </a:solidFill>
              </a:rPr>
              <a:t>70% Training (1,217 imgs) / 15% Validation (250 imgs) / 15% Test (272 imgs)</a:t>
            </a:r>
          </a:p>
          <a:p>
            <a:pPr>
              <a:spcBef>
                <a:spcPts val="1000"/>
              </a:spcBef>
              <a:defRPr b="1" sz="1200">
                <a:solidFill>
                  <a:srgbClr val="16A34A"/>
                </a:solidFill>
              </a:defRPr>
            </a:pPr>
            <a:r>
              <a:t>Pre-processing: </a:t>
            </a:r>
            <a:r>
              <a:rPr b="0">
                <a:solidFill>
                  <a:srgbClr val="334155"/>
                </a:solidFill>
              </a:rPr>
              <a:t>Standardized RGB 224x224 with ResNet-50 zero-centering &amp; TTA</a:t>
            </a:r>
          </a:p>
        </p:txBody>
      </p:sp>
      <p:pic>
        <p:nvPicPr>
          <p:cNvPr id="4" name="Picture 3" descr="dataset_class_distribution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05840"/>
            <a:ext cx="64008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